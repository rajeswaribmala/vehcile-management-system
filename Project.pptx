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23" r:id="rId2"/>
    <p:sldId id="320" r:id="rId3"/>
    <p:sldId id="321" r:id="rId4"/>
    <p:sldId id="322" r:id="rId5"/>
    <p:sldId id="330" r:id="rId6"/>
    <p:sldId id="324" r:id="rId7"/>
    <p:sldId id="256" r:id="rId8"/>
    <p:sldId id="318" r:id="rId9"/>
    <p:sldId id="258" r:id="rId10"/>
    <p:sldId id="262" r:id="rId11"/>
    <p:sldId id="263" r:id="rId12"/>
    <p:sldId id="264" r:id="rId13"/>
    <p:sldId id="265" r:id="rId14"/>
    <p:sldId id="271" r:id="rId15"/>
    <p:sldId id="272" r:id="rId16"/>
    <p:sldId id="275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59" r:id="rId25"/>
    <p:sldId id="266" r:id="rId26"/>
    <p:sldId id="267" r:id="rId27"/>
    <p:sldId id="268" r:id="rId28"/>
    <p:sldId id="269" r:id="rId29"/>
    <p:sldId id="270" r:id="rId30"/>
    <p:sldId id="273" r:id="rId31"/>
    <p:sldId id="274" r:id="rId32"/>
    <p:sldId id="276" r:id="rId33"/>
    <p:sldId id="317" r:id="rId34"/>
    <p:sldId id="319" r:id="rId35"/>
    <p:sldId id="260" r:id="rId36"/>
    <p:sldId id="261" r:id="rId37"/>
    <p:sldId id="288" r:id="rId38"/>
    <p:sldId id="287" r:id="rId39"/>
    <p:sldId id="284" r:id="rId40"/>
    <p:sldId id="285" r:id="rId41"/>
    <p:sldId id="286" r:id="rId42"/>
    <p:sldId id="257" r:id="rId43"/>
    <p:sldId id="289" r:id="rId44"/>
    <p:sldId id="290" r:id="rId45"/>
    <p:sldId id="326" r:id="rId46"/>
    <p:sldId id="327" r:id="rId47"/>
    <p:sldId id="328" r:id="rId48"/>
    <p:sldId id="329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flask.palletsprojects.com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" TargetMode="External"/><Relationship Id="rId5" Type="http://schemas.openxmlformats.org/officeDocument/2006/relationships/hyperlink" Target="https://www.w3schools.com/" TargetMode="External"/><Relationship Id="rId4" Type="http://schemas.openxmlformats.org/officeDocument/2006/relationships/hyperlink" Target="https://www.sqlite.org/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8464-7E6F-E0AA-6C72-0D4431162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646" y="693174"/>
            <a:ext cx="8657302" cy="1932039"/>
          </a:xfrm>
        </p:spPr>
        <p:txBody>
          <a:bodyPr/>
          <a:lstStyle/>
          <a:p>
            <a:pPr algn="ctr"/>
            <a:r>
              <a:rPr lang="en-US" dirty="0"/>
              <a:t>VEHICLE SERVICE MANAGEMENT SYSTEM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D1A64-6B73-7298-9810-D70E2AB9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784" y="2759580"/>
            <a:ext cx="6988003" cy="3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1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CDC3-CF25-E9DE-B9C3-E48F8D1D5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99652"/>
            <a:ext cx="8596668" cy="811160"/>
          </a:xfrm>
        </p:spPr>
        <p:txBody>
          <a:bodyPr/>
          <a:lstStyle/>
          <a:p>
            <a:r>
              <a:rPr lang="en-US" dirty="0"/>
              <a:t>                   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8C5D-AE49-18B2-70A1-AE13F624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991032"/>
            <a:ext cx="9468464" cy="3790335"/>
          </a:xfrm>
        </p:spPr>
        <p:txBody>
          <a:bodyPr/>
          <a:lstStyle/>
          <a:p>
            <a:r>
              <a:rPr lang="en-US" dirty="0"/>
              <a:t>Vehicle Service Management System is a web application to manage vehicle servicing.</a:t>
            </a:r>
          </a:p>
          <a:p>
            <a:endParaRPr lang="en-US" dirty="0"/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It is developed using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Python (Flask), HTML, CSS, JavaScript, and SQLite database.</a:t>
            </a:r>
          </a:p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It allows customers to book services and track repair status online.</a:t>
            </a:r>
          </a:p>
          <a:p>
            <a:endParaRPr lang="en-US" dirty="0"/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It helps service centers manage customer requests and service records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75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2761-BAA1-A9F1-718E-BC15A1C9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5380-046E-A7D9-AD81-776B97594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731" y="1607576"/>
            <a:ext cx="8167873" cy="4159044"/>
          </a:xfrm>
        </p:spPr>
        <p:txBody>
          <a:bodyPr/>
          <a:lstStyle/>
          <a:p>
            <a:r>
              <a:rPr lang="en-US" dirty="0"/>
              <a:t>Traditional vehicle service centers use </a:t>
            </a:r>
            <a:r>
              <a:rPr lang="en-US" b="1" dirty="0"/>
              <a:t>manual records</a:t>
            </a:r>
            <a:r>
              <a:rPr lang="en-US" dirty="0"/>
              <a:t> to manage services.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Customers face difficulty in </a:t>
            </a:r>
            <a:r>
              <a:rPr lang="en-US" b="1" dirty="0"/>
              <a:t>booking and tracking service status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Service records are often </a:t>
            </a:r>
            <a:r>
              <a:rPr lang="en-US" b="1" dirty="0"/>
              <a:t>misplaced or not properly maintained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Lack of proper </a:t>
            </a:r>
            <a:r>
              <a:rPr lang="en-US" b="1" dirty="0"/>
              <a:t>communication between customers and mechanics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Manual systems are </a:t>
            </a:r>
            <a:r>
              <a:rPr lang="en-US" b="1" dirty="0"/>
              <a:t>time-consuming and inefficient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03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1ACC-F11C-4D9A-9D3D-3DD7400C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Project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5F6D0-AA69-7ABE-D4FD-6C7E54A77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7575"/>
            <a:ext cx="8273844" cy="443378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To allow customers to </a:t>
            </a:r>
            <a:r>
              <a:rPr lang="en-US" b="1" dirty="0"/>
              <a:t>book services and track service progress online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To help mechanics manage repair tasks more efficiently.</a:t>
            </a:r>
          </a:p>
          <a:p>
            <a:endParaRPr lang="en-US" dirty="0"/>
          </a:p>
          <a:p>
            <a:r>
              <a:rPr lang="en-US" dirty="0"/>
              <a:t>To maintain </a:t>
            </a:r>
            <a:r>
              <a:rPr lang="en-US" b="1" dirty="0"/>
              <a:t>service history records for vehicles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To improve </a:t>
            </a:r>
            <a:r>
              <a:rPr lang="en-US" b="1" dirty="0"/>
              <a:t>service quality and customer satisfaction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71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70B2-AB9F-BD51-D5A7-95033942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9484"/>
          </a:xfrm>
        </p:spPr>
        <p:txBody>
          <a:bodyPr/>
          <a:lstStyle/>
          <a:p>
            <a:r>
              <a:rPr lang="en-US" dirty="0"/>
              <a:t>                      </a:t>
            </a:r>
            <a:r>
              <a:rPr lang="en-US" sz="4000" dirty="0"/>
              <a:t>workflow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C65E6-A8B0-FD7C-1C04-8F497B4DD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096" y="1710813"/>
            <a:ext cx="7872905" cy="4330549"/>
          </a:xfrm>
        </p:spPr>
        <p:txBody>
          <a:bodyPr>
            <a:normAutofit/>
          </a:bodyPr>
          <a:lstStyle/>
          <a:p>
            <a:r>
              <a:rPr lang="en-US" dirty="0"/>
              <a:t>Customer registers, logs in, and adds vehicle details.</a:t>
            </a:r>
          </a:p>
          <a:p>
            <a:endParaRPr lang="en-US" dirty="0"/>
          </a:p>
          <a:p>
            <a:r>
              <a:rPr lang="en-US" dirty="0"/>
              <a:t>Customer books a service by selecting service type and branch.</a:t>
            </a:r>
          </a:p>
          <a:p>
            <a:endParaRPr lang="en-US" dirty="0"/>
          </a:p>
          <a:p>
            <a:r>
              <a:rPr lang="en-US" dirty="0"/>
              <a:t>Admin manages users/services and assigns the request to a mechanic</a:t>
            </a:r>
          </a:p>
          <a:p>
            <a:endParaRPr lang="en-US" dirty="0"/>
          </a:p>
          <a:p>
            <a:r>
              <a:rPr lang="en-US" dirty="0"/>
              <a:t>Mechanic updates service, sends additional repair request, and after customer confirmation, completes the service.</a:t>
            </a:r>
          </a:p>
          <a:p>
            <a:endParaRPr lang="en-US" dirty="0"/>
          </a:p>
          <a:p>
            <a:r>
              <a:rPr lang="en-US" dirty="0"/>
              <a:t>After completion, mechanic earns points, customer makes payment, receives bill, and gives feedback.</a:t>
            </a:r>
          </a:p>
        </p:txBody>
      </p:sp>
    </p:spTree>
    <p:extLst>
      <p:ext uri="{BB962C8B-B14F-4D97-AF65-F5344CB8AC3E}">
        <p14:creationId xmlns:p14="http://schemas.microsoft.com/office/powerpoint/2010/main" val="117201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B461-4DA6-DBE0-AADA-FC23A08B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89239"/>
            <a:ext cx="8596668" cy="2389237"/>
          </a:xfrm>
        </p:spPr>
        <p:txBody>
          <a:bodyPr/>
          <a:lstStyle/>
          <a:p>
            <a:r>
              <a:rPr lang="en-US" dirty="0"/>
              <a:t>             </a:t>
            </a:r>
            <a:br>
              <a:rPr lang="en-US" dirty="0"/>
            </a:br>
            <a:r>
              <a:rPr lang="en-US" sz="4800" dirty="0"/>
              <a:t>        SAMPLE SCREENSHOT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819729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6C181B-6951-E3D7-6105-E51A7354D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910"/>
            <a:ext cx="12191999" cy="517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7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5D431-5408-FF23-A073-769825F9A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928"/>
            <a:ext cx="12192000" cy="586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8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38E6-4A0A-1E97-DF82-D2DDA552F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40007"/>
            <a:ext cx="12192000" cy="5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32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4F57F8-39C4-3DF8-5E99-B5B7FE17F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902"/>
            <a:ext cx="12192000" cy="584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5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D6917-710B-3002-B28E-8C254597F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429"/>
            <a:ext cx="12192000" cy="572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31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24A67-0E18-DD93-7ACE-85316A396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031"/>
            <a:ext cx="12192000" cy="581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04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2D1DB1-8694-EEC1-7712-7674694B4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964"/>
            <a:ext cx="12192000" cy="576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38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9B5F73-3538-33BD-83E4-61D4DDAFF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1048"/>
            <a:ext cx="12192000" cy="579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84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45521A-A28F-CE1C-7063-0E8FEA276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697"/>
            <a:ext cx="12192000" cy="575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0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E8EEE-9271-DA18-285D-D50DB858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6784"/>
            <a:ext cx="12192000" cy="580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31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9AD13C-94C1-0AA9-A87C-C5202CA9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007"/>
            <a:ext cx="12192000" cy="5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11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EAE1A-A8AA-9100-BB96-5E5CFCAE6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880"/>
            <a:ext cx="12192000" cy="572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65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E2DD0E-53AF-DE2C-0A67-ED665F3AA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460"/>
            <a:ext cx="12192000" cy="575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85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2ED8B-995D-80BE-83E9-9C6F53161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4194"/>
            <a:ext cx="12192000" cy="580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66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B24762-9C39-BC3C-930E-22C30669F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25"/>
            <a:ext cx="12192000" cy="653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4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46DF4B-6385-B3FA-A899-831C79910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434"/>
            <a:ext cx="12192000" cy="589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39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67D1D9-A5D5-5E58-6D4D-1905B85A1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285" y="347232"/>
            <a:ext cx="5401429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64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0D7083-2098-C68A-4867-E5A06DB5D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6784"/>
            <a:ext cx="12192000" cy="580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63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7B598-3781-393D-AA7A-404ED0EE6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364"/>
            <a:ext cx="12192000" cy="583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01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A62764-A7D9-94D1-F86F-1B601438B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460"/>
            <a:ext cx="12192000" cy="575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32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08DA1F-BD90-B230-7673-26B77B099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964"/>
            <a:ext cx="12192000" cy="576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67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44C97-96AC-E3D5-FD18-436997530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2506"/>
            <a:ext cx="12192000" cy="581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60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63BDEE-A16C-82CE-51F6-197BD1AC0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211"/>
            <a:ext cx="12192000" cy="578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18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C5C89E-7F14-D1C5-6662-C0F1260D4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216"/>
            <a:ext cx="12192000" cy="582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69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B7AF6-853A-B4AB-886E-676E88633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537"/>
            <a:ext cx="12192000" cy="584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842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2361BF-DFEC-D186-8D2D-64912F13D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460"/>
            <a:ext cx="12192000" cy="575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210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26344-223B-CAEE-A814-B59B180CF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475"/>
            <a:ext cx="12192000" cy="57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31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D8F0C9-A4A7-DBF8-A467-E33E9412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329"/>
            <a:ext cx="12192000" cy="590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24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2B1090-641D-FFF4-3140-EE2370D4D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828"/>
            <a:ext cx="12192000" cy="588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90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5F2139-411B-3564-7D77-49CA552F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0929"/>
            <a:ext cx="12192000" cy="585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91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6F518-8C54-A9A3-586C-543A64A15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011"/>
            <a:ext cx="12192000" cy="58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810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1543D7-35F0-6922-4409-633D31B43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750"/>
            <a:ext cx="12192000" cy="583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56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E3024E-D0EC-3980-5922-B81CF474F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280"/>
            <a:ext cx="12192000" cy="585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75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71A80-6C67-6527-CBB9-48CF39F16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403"/>
            <a:ext cx="12192000" cy="586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05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D494ED-5661-8470-55F7-F18F50C94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704"/>
            <a:ext cx="12192000" cy="58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893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2EBA4-8F70-3854-ADA8-C50AF874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05639"/>
            <a:ext cx="12192000" cy="584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652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4F603-8652-4521-7946-F37399FA8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622"/>
            <a:ext cx="12192000" cy="582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846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74602-A59E-0C98-1168-DE921BA06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460"/>
            <a:ext cx="12192000" cy="575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54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B269-C980-10F6-C05B-617E57F2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15961"/>
          </a:xfrm>
        </p:spPr>
        <p:txBody>
          <a:bodyPr/>
          <a:lstStyle/>
          <a:p>
            <a:r>
              <a:rPr lang="en-IN" dirty="0"/>
              <a:t>            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B4812-721C-5B70-8AAF-9D742198D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592" y="1563889"/>
            <a:ext cx="8153125" cy="468451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Development of </a:t>
            </a:r>
            <a:r>
              <a:rPr lang="en-US" b="1" dirty="0"/>
              <a:t>mobile application for customers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Implementation of </a:t>
            </a:r>
            <a:r>
              <a:rPr lang="en-US" b="1" dirty="0"/>
              <a:t>automatic service reminders for vehicle maintenance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Integration with </a:t>
            </a:r>
            <a:r>
              <a:rPr lang="en-US" b="1" dirty="0"/>
              <a:t>GPS tracking for vehicle pickup and delivery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Advanced </a:t>
            </a:r>
            <a:r>
              <a:rPr lang="en-US" b="1" dirty="0"/>
              <a:t>analytics and reporting system for service centers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95537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CC32-3676-7662-7171-F3CA32A6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6245"/>
          </a:xfrm>
        </p:spPr>
        <p:txBody>
          <a:bodyPr/>
          <a:lstStyle/>
          <a:p>
            <a:r>
              <a:rPr lang="en-IN" dirty="0"/>
              <a:t>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B4FF5-591F-B604-8D99-BD3D6E9F7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0025" y="2064774"/>
            <a:ext cx="7223977" cy="2862828"/>
          </a:xfrm>
        </p:spPr>
        <p:txBody>
          <a:bodyPr/>
          <a:lstStyle/>
          <a:p>
            <a:r>
              <a:rPr lang="en-US" dirty="0"/>
              <a:t>The system improves vehicle service management.</a:t>
            </a:r>
          </a:p>
          <a:p>
            <a:endParaRPr lang="en-US" dirty="0"/>
          </a:p>
          <a:p>
            <a:r>
              <a:rPr lang="en-US" dirty="0"/>
              <a:t>Customers can easily book and track services.</a:t>
            </a:r>
          </a:p>
          <a:p>
            <a:endParaRPr lang="en-US" dirty="0"/>
          </a:p>
          <a:p>
            <a:r>
              <a:rPr lang="en-US" dirty="0"/>
              <a:t>It reduces manual work and improves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9038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A7C6-9645-1AB4-D90D-9C049EA92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7755"/>
          </a:xfrm>
        </p:spPr>
        <p:txBody>
          <a:bodyPr/>
          <a:lstStyle/>
          <a:p>
            <a:r>
              <a:rPr lang="en-IN" dirty="0"/>
              <a:t>                     References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3BAA990-0830-8418-17CC-31D3D81D6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367" y="1635433"/>
            <a:ext cx="8406582" cy="3895212"/>
          </a:xfrm>
        </p:spPr>
        <p:txBody>
          <a:bodyPr/>
          <a:lstStyle/>
          <a:p>
            <a:r>
              <a:rPr lang="fr-FR" dirty="0"/>
              <a:t>Python Official Documentation – </a:t>
            </a:r>
            <a:r>
              <a:rPr lang="fr-FR" dirty="0">
                <a:hlinkClick r:id="rId2"/>
              </a:rPr>
              <a:t>https://www.python.org</a:t>
            </a:r>
            <a:endParaRPr lang="fr-FR" dirty="0"/>
          </a:p>
          <a:p>
            <a:endParaRPr lang="fr-FR" dirty="0"/>
          </a:p>
          <a:p>
            <a:r>
              <a:rPr lang="en-IN" dirty="0"/>
              <a:t>Flask Framework Documentation – </a:t>
            </a:r>
            <a:r>
              <a:rPr lang="en-IN" dirty="0">
                <a:hlinkClick r:id="rId3"/>
              </a:rPr>
              <a:t>https://flask.palletsprojects.com</a:t>
            </a:r>
            <a:endParaRPr lang="en-IN" dirty="0"/>
          </a:p>
          <a:p>
            <a:endParaRPr lang="en-IN" dirty="0"/>
          </a:p>
          <a:p>
            <a:r>
              <a:rPr lang="en-IN" dirty="0"/>
              <a:t>SQLite Documentation – </a:t>
            </a:r>
            <a:r>
              <a:rPr lang="en-IN" dirty="0">
                <a:hlinkClick r:id="rId4"/>
              </a:rPr>
              <a:t>https://www.sqlite.org</a:t>
            </a:r>
            <a:endParaRPr lang="en-IN" dirty="0"/>
          </a:p>
          <a:p>
            <a:endParaRPr lang="en-IN" dirty="0"/>
          </a:p>
          <a:p>
            <a:r>
              <a:rPr lang="en-US" dirty="0"/>
              <a:t>W3Schools – </a:t>
            </a:r>
            <a:r>
              <a:rPr lang="en-US" dirty="0">
                <a:hlinkClick r:id="rId5"/>
              </a:rPr>
              <a:t>https://www.w3schools.com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Stack Overflow – </a:t>
            </a:r>
            <a:r>
              <a:rPr lang="en-US" dirty="0">
                <a:hlinkClick r:id="rId6"/>
              </a:rPr>
              <a:t>https://stackoverflow.com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35049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B77AF-C5DE-500F-F7B1-373E1BCF4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74839"/>
            <a:ext cx="8596668" cy="1954161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                      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F32A4-5CE4-8550-1E3F-CA1854678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16" y="3923071"/>
            <a:ext cx="4849485" cy="2118291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        RAJESWARI B</a:t>
            </a:r>
            <a:endParaRPr lang="en-IN" dirty="0"/>
          </a:p>
          <a:p>
            <a:pPr marL="0" indent="0">
              <a:buNone/>
            </a:pPr>
            <a:r>
              <a:rPr lang="en-IN" sz="2000" dirty="0"/>
              <a:t>     MASTER OF COMPUTER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066774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200</TotalTime>
  <Words>354</Words>
  <Application>Microsoft Office PowerPoint</Application>
  <PresentationFormat>Widescreen</PresentationFormat>
  <Paragraphs>67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Trebuchet MS</vt:lpstr>
      <vt:lpstr>Wingdings 3</vt:lpstr>
      <vt:lpstr>Facet</vt:lpstr>
      <vt:lpstr>VEHICLE SERVICE MANAGEMENT SYSTEM</vt:lpstr>
      <vt:lpstr>                    INTRODUCTION</vt:lpstr>
      <vt:lpstr>             Problem Statement</vt:lpstr>
      <vt:lpstr>                  Project Vision</vt:lpstr>
      <vt:lpstr>                      workflow</vt:lpstr>
      <vt:lpstr>                      SAMPLE SCREENSHOT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Future Enhancement</vt:lpstr>
      <vt:lpstr>                      Conclusion</vt:lpstr>
      <vt:lpstr>                     References</vt:lpstr>
      <vt:lpstr>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Vasanth B</dc:creator>
  <cp:lastModifiedBy>Vasanth B</cp:lastModifiedBy>
  <cp:revision>5</cp:revision>
  <dcterms:created xsi:type="dcterms:W3CDTF">2026-03-09T15:48:27Z</dcterms:created>
  <dcterms:modified xsi:type="dcterms:W3CDTF">2026-03-17T16:42:59Z</dcterms:modified>
</cp:coreProperties>
</file>